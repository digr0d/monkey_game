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83519-BEA7-4437-8077-33F0B281A5E7}" v="211" dt="2026-07-11T21:19:40.8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МИНИСТЕРСТВО ОБРАЗОВАНИЯ РЕСПУБЛИКИ БЕЛАРУСЬ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БЕЛОРУССКИЙ ГОСУДАРСТВЕННЫЙ УНИВЕРСИТЕТ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ФАКУЛЬТЕТ ПРИКЛАДНОЙ МАТЕМАТИКИ И ИНФОРМАТИКИ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Times New Roman"/>
              </a:rPr>
              <a:t>ОТЧЕТ О ПРОХОЖДЕНИИ УЧЕБНОЙ ПРАКТИКИ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Times New Roman"/>
              </a:rPr>
              <a:t>Проект «Tower Defence: Стихийная Оборона»
репозиторий monkey_game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657600"/>
            <a:ext cx="4663440" cy="20313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800" b="0" dirty="0">
                <a:solidFill>
                  <a:srgbClr val="000000"/>
                </a:solidFill>
                <a:latin typeface="Times New Roman"/>
              </a:rPr>
              <a:t>Команда </a:t>
            </a:r>
            <a:r>
              <a:rPr sz="1800" b="0" err="1">
                <a:solidFill>
                  <a:srgbClr val="000000"/>
                </a:solidFill>
                <a:latin typeface="Times New Roman"/>
              </a:rPr>
              <a:t>проекта:</a:t>
            </a:r>
            <a:r>
              <a:rPr sz="1800" b="0" dirty="0">
                <a:solidFill>
                  <a:srgbClr val="000000"/>
                </a:solidFill>
                <a:latin typeface="Times New Roman"/>
              </a:rPr>
              <a:t>
Анохов Михаил </a:t>
            </a:r>
            <a:r>
              <a:rPr sz="1800" b="0" err="1">
                <a:solidFill>
                  <a:srgbClr val="000000"/>
                </a:solidFill>
                <a:latin typeface="Times New Roman"/>
              </a:rPr>
              <a:t>Дмитриевич</a:t>
            </a:r>
            <a:r>
              <a:rPr sz="1800" b="0" dirty="0">
                <a:solidFill>
                  <a:srgbClr val="000000"/>
                </a:solidFill>
                <a:latin typeface="Times New Roman"/>
              </a:rPr>
              <a:t>
</a:t>
            </a:r>
            <a:r>
              <a:rPr sz="1800" b="0" err="1">
                <a:solidFill>
                  <a:srgbClr val="000000"/>
                </a:solidFill>
                <a:latin typeface="Times New Roman"/>
              </a:rPr>
              <a:t>Шабуня</a:t>
            </a:r>
            <a:r>
              <a:rPr sz="18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800" b="0" err="1">
                <a:solidFill>
                  <a:srgbClr val="000000"/>
                </a:solidFill>
                <a:latin typeface="Times New Roman"/>
              </a:rPr>
              <a:t>Михаил</a:t>
            </a:r>
            <a:r>
              <a:rPr sz="1800" b="0" dirty="0">
                <a:solidFill>
                  <a:srgbClr val="000000"/>
                </a:solidFill>
                <a:latin typeface="Times New Roman"/>
              </a:rPr>
              <a:t>
1 курс, </a:t>
            </a:r>
            <a:r>
              <a:rPr lang="ru-RU" dirty="0">
                <a:solidFill>
                  <a:srgbClr val="000000"/>
                </a:solidFill>
                <a:latin typeface="Times New Roman"/>
              </a:rPr>
              <a:t>3 </a:t>
            </a:r>
            <a:r>
              <a:rPr sz="1800" b="0" dirty="0">
                <a:solidFill>
                  <a:srgbClr val="000000"/>
                </a:solidFill>
                <a:latin typeface="Times New Roman"/>
              </a:rPr>
              <a:t>группа
Руководитель 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практики: </a:t>
            </a:r>
            <a:endParaRPr lang="ru-RU" sz="1800" b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r>
              <a:rPr lang="ru-RU">
                <a:solidFill>
                  <a:srgbClr val="000000"/>
                </a:solidFill>
                <a:latin typeface="Times New Roman"/>
                <a:cs typeface="Times New Roman"/>
              </a:rPr>
              <a:t>Старший преподаватель И.В.Комаровский</a:t>
            </a:r>
            <a:endParaRPr lang="ru-RU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Минск,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Times New Roman"/>
              </a:rPr>
              <a:t>Цель и контекст проекта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49808"/>
            <a:ext cx="10927080" cy="27432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5440680" cy="5303520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18872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</a:rPr>
              <a:t>Цель работы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36192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Разработать учебный прототип 2D tower defence на Python и Pygame.</a:t>
            </a:r>
          </a:p>
          <a:p>
            <a:pPr algn="l">
              <a:spcAft>
                <a:spcPts val="5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Закрепить навыки командной разработки и оформить результат в виде полноценного проекта.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</a:rPr>
              <a:t>Что хотели освоить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18688"/>
            <a:ext cx="4892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Python 3 и объектно-ориентированное проектирование.</a:t>
            </a:r>
          </a:p>
          <a:p>
            <a:pPr algn="l">
              <a:spcAft>
                <a:spcPts val="5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Pygame: игровой цикл, обработка ввода, меню, рендеринг.</a:t>
            </a:r>
          </a:p>
          <a:p>
            <a:pPr algn="l">
              <a:spcAft>
                <a:spcPts val="5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Git и GitHub: история изменений, ветки, совместная работа.</a:t>
            </a:r>
          </a:p>
          <a:p>
            <a:pPr algn="l">
              <a:spcAft>
                <a:spcPts val="5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Основы игрового процесса, архитектуры проекта и редактора карт.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051560"/>
            <a:ext cx="5257800" cy="5303520"/>
          </a:xfrm>
          <a:prstGeom prst="roundRect">
            <a:avLst/>
          </a:prstGeom>
          <a:solidFill>
            <a:srgbClr val="EBF1DE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18872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</a:rPr>
              <a:t>Контекст проекта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536192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Репозиторий: github.com/DiGr0d/monkey_game, основная ветка — master.</a:t>
            </a:r>
          </a:p>
          <a:p>
            <a:pPr algn="l">
              <a:spcAft>
                <a:spcPts val="5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Проект выполнен как учебная практика после 1 курса.</a:t>
            </a:r>
          </a:p>
          <a:p>
            <a:pPr algn="l">
              <a:spcAft>
                <a:spcPts val="5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По README проект разработан командой из двух человек.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15468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</a:rPr>
              <a:t>Целевой пользователь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493008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Студенты и начинающие разработчики игр.</a:t>
            </a:r>
          </a:p>
          <a:p>
            <a:pPr algn="l">
              <a:spcAft>
                <a:spcPts val="5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Пользователи, которым интересны простые стратегические 2D-игры.</a:t>
            </a:r>
          </a:p>
          <a:p>
            <a:pPr algn="l">
              <a:spcAft>
                <a:spcPts val="5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Игроки, которые хотят создавать и загружать собственные карты.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Times New Roman"/>
              </a:rPr>
              <a:t>Концепция игры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49808"/>
            <a:ext cx="10927080" cy="27432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9515" y="1097280"/>
            <a:ext cx="3426822" cy="1845491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6771" y="988423"/>
            <a:ext cx="3412308" cy="411480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 b="1">
                <a:latin typeface="Times New Roman"/>
              </a:defRPr>
            </a:pPr>
            <a:r>
              <a:rPr dirty="0" err="1">
                <a:solidFill>
                  <a:schemeClr val="tx1"/>
                </a:solidFill>
              </a:rPr>
              <a:t>Жанр</a:t>
            </a:r>
            <a:r>
              <a:rPr dirty="0">
                <a:solidFill>
                  <a:schemeClr val="tx1"/>
                </a:solidFill>
              </a:rPr>
              <a:t> и </a:t>
            </a:r>
            <a:r>
              <a:rPr dirty="0" err="1">
                <a:solidFill>
                  <a:schemeClr val="tx1"/>
                </a:solidFill>
              </a:rPr>
              <a:t>формат</a:t>
            </a:r>
            <a:endParaRPr lang="ru-RU" dirty="0" err="1">
              <a:solidFill>
                <a:schemeClr val="tx1"/>
              </a:solidFill>
              <a:cs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1014" y="1402079"/>
            <a:ext cx="31638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Жанр — tower defence / тактическая стратегия в реальном времени.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Формат — 2D-игра с управлением мышью и встроенным редактором карт.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024051"/>
            <a:ext cx="3383280" cy="2011680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3024051"/>
            <a:ext cx="3383280" cy="411480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 b="1">
                <a:latin typeface="Times New Roman"/>
              </a:defRPr>
            </a:pPr>
            <a:r>
              <a:rPr dirty="0" err="1">
                <a:solidFill>
                  <a:schemeClr val="tx1"/>
                </a:solidFill>
              </a:rPr>
              <a:t>Сеттинг</a:t>
            </a:r>
            <a:r>
              <a:rPr dirty="0">
                <a:solidFill>
                  <a:schemeClr val="tx1"/>
                </a:solidFill>
              </a:rPr>
              <a:t> и </a:t>
            </a:r>
            <a:r>
              <a:rPr dirty="0" err="1">
                <a:solidFill>
                  <a:schemeClr val="tx1"/>
                </a:solidFill>
              </a:rPr>
              <a:t>атмосфера</a:t>
            </a:r>
            <a:endParaRPr lang="ru-RU" dirty="0">
              <a:solidFill>
                <a:schemeClr val="tx1"/>
              </a:solidFill>
              <a:cs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5528" y="3365137"/>
            <a:ext cx="316382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Мир «Стихийной Обороны»: игрок строит защиту против волн противников.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Ключевой акцент — комбинирование башен и контроль пространства на карте.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240383"/>
            <a:ext cx="3383280" cy="1325880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5138783"/>
            <a:ext cx="3383280" cy="411480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 b="1">
                <a:latin typeface="Times New Roman"/>
              </a:defRPr>
            </a:pPr>
            <a:r>
              <a:rPr dirty="0" err="1">
                <a:solidFill>
                  <a:schemeClr val="tx1"/>
                </a:solidFill>
              </a:rPr>
              <a:t>Ключевая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механика</a:t>
            </a:r>
            <a:endParaRPr lang="ru-RU" dirty="0" err="1">
              <a:solidFill>
                <a:schemeClr val="tx1"/>
              </a:solidFill>
              <a:cs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5528" y="5552440"/>
            <a:ext cx="31638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Выбор позиции, установка башен, усиление линии обороны и наблюдение за результатом.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097280"/>
            <a:ext cx="6537960" cy="5120640"/>
          </a:xfrm>
          <a:prstGeom prst="rect">
            <a:avLst/>
          </a:prstGeom>
          <a:solidFill>
            <a:srgbClr val="FFFFFF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5559552"/>
            <a:ext cx="640080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ru-RU" sz="1600">
                <a:solidFill>
                  <a:srgbClr val="000000"/>
                </a:solidFill>
                <a:latin typeface="Times New Roman"/>
              </a:rPr>
              <a:t>Игровой экран</a:t>
            </a:r>
            <a:endParaRPr lang="ru-RU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ru-RU" sz="1600" dirty="0">
              <a:latin typeface="Times New Roman"/>
              <a:cs typeface="Times New Roman"/>
            </a:endParaRPr>
          </a:p>
        </p:txBody>
      </p:sp>
      <p:pic>
        <p:nvPicPr>
          <p:cNvPr id="16" name="Рисунок 15" descr="Изображение выглядит как текст, снимок экрана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3637D66-19E2-8222-19AA-3CF7C8D44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893" y="1313542"/>
            <a:ext cx="5622670" cy="38245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Times New Roman"/>
              </a:rPr>
              <a:t>Геймдизайн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49808"/>
            <a:ext cx="10927080" cy="27432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959394"/>
            <a:ext cx="3703320" cy="1920240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894080"/>
            <a:ext cx="3703320" cy="411480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 b="1">
                <a:latin typeface="Times New Roman"/>
              </a:defRPr>
            </a:pPr>
            <a:r>
              <a:rPr>
                <a:solidFill>
                  <a:schemeClr val="tx1"/>
                </a:solidFill>
              </a:rPr>
              <a:t>Основные правила</a:t>
            </a:r>
            <a:endParaRPr lang="ru-RU">
              <a:solidFill>
                <a:schemeClr val="tx1"/>
              </a:solidFill>
              <a:cs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5528" y="1235166"/>
            <a:ext cx="348386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Игрок удерживает позиции и строит оборону на карте.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За уничтожение врагов начисляются ресурсы на новые башни.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Поражение наступает, если уничтожены все башни игрока.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1286" y="3122749"/>
            <a:ext cx="3732348" cy="1849845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64029" y="3035663"/>
            <a:ext cx="3732348" cy="418737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 b="1">
                <a:latin typeface="Times New Roman"/>
              </a:defRPr>
            </a:pPr>
            <a:r>
              <a:rPr dirty="0" err="1">
                <a:solidFill>
                  <a:schemeClr val="tx1"/>
                </a:solidFill>
              </a:rPr>
              <a:t>Прогрессия</a:t>
            </a:r>
            <a:endParaRPr lang="ru-RU">
              <a:solidFill>
                <a:schemeClr val="tx1"/>
              </a:solidFill>
              <a:cs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5528" y="3463834"/>
            <a:ext cx="34838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Усложнение происходит за счет волн противников, выбора карт и расширения набора башен.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В проекте заложена возможность добавлять новые типы объектов и сценарии.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310051"/>
            <a:ext cx="3703320" cy="1234440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5193937"/>
            <a:ext cx="3703320" cy="411480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 b="1">
                <a:latin typeface="Times New Roman"/>
              </a:defRPr>
            </a:pPr>
            <a:r>
              <a:rPr dirty="0" err="1">
                <a:solidFill>
                  <a:schemeClr val="tx1"/>
                </a:solidFill>
              </a:rPr>
              <a:t>Короткая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игровая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ситуация</a:t>
            </a:r>
            <a:endParaRPr lang="ru-RU" dirty="0">
              <a:solidFill>
                <a:schemeClr val="tx1"/>
              </a:solidFill>
              <a:cs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5528" y="5600337"/>
            <a:ext cx="34838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Игрок выбирает клетку, ставит башню, враги меняют путь, защита сдерживает волну.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0515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Times New Roman"/>
              </a:rPr>
              <a:t>Схема: игрок → действие → результат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1920240"/>
            <a:ext cx="1645920" cy="914400"/>
          </a:xfrm>
          <a:prstGeom prst="roundRect">
            <a:avLst/>
          </a:prstGeom>
          <a:solidFill>
            <a:srgbClr val="EBF1DE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 b="1">
                <a:latin typeface="Times New Roman"/>
              </a:defRPr>
            </a:pPr>
            <a:r>
              <a:rPr dirty="0" err="1">
                <a:solidFill>
                  <a:schemeClr val="tx1"/>
                </a:solidFill>
              </a:rPr>
              <a:t>Игрок</a:t>
            </a:r>
            <a:endParaRPr lang="ru-RU">
              <a:solidFill>
                <a:schemeClr val="tx1"/>
              </a:solidFill>
              <a:cs typeface="Times New Roman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903720" y="1920240"/>
            <a:ext cx="1828800" cy="914400"/>
          </a:xfrm>
          <a:prstGeom prst="roundRect">
            <a:avLst/>
          </a:prstGeom>
          <a:solidFill>
            <a:srgbClr val="EBF1DE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 b="1">
                <a:latin typeface="Times New Roman"/>
              </a:defRPr>
            </a:pPr>
            <a:r>
              <a:rPr dirty="0" err="1">
                <a:solidFill>
                  <a:schemeClr val="tx1"/>
                </a:solidFill>
              </a:rPr>
              <a:t>Ставит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башню</a:t>
            </a:r>
            <a:endParaRPr lang="ru-RU" dirty="0">
              <a:solidFill>
                <a:schemeClr val="tx1"/>
              </a:solidFill>
              <a:cs typeface="Times New Roman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189720" y="1920240"/>
            <a:ext cx="1645920" cy="914400"/>
          </a:xfrm>
          <a:prstGeom prst="roundRect">
            <a:avLst/>
          </a:prstGeom>
          <a:solidFill>
            <a:srgbClr val="EBF1DE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 b="1">
                <a:latin typeface="Times New Roman"/>
              </a:defRPr>
            </a:pPr>
            <a:r>
              <a:rPr dirty="0" err="1">
                <a:solidFill>
                  <a:schemeClr val="tx1"/>
                </a:solidFill>
              </a:rPr>
              <a:t>Защита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карты</a:t>
            </a:r>
            <a:endParaRPr lang="ru-RU" dirty="0">
              <a:solidFill>
                <a:schemeClr val="tx1"/>
              </a:solidFill>
              <a:cs typeface="Times New Roman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806440" y="3840480"/>
            <a:ext cx="1920240" cy="914400"/>
          </a:xfrm>
          <a:prstGeom prst="roundRect">
            <a:avLst/>
          </a:prstGeom>
          <a:solidFill>
            <a:srgbClr val="EBF1DE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 b="1">
                <a:latin typeface="Times New Roman"/>
              </a:defRPr>
            </a:pPr>
            <a:r>
              <a:rPr dirty="0" err="1">
                <a:solidFill>
                  <a:schemeClr val="tx1"/>
                </a:solidFill>
              </a:rPr>
              <a:t>Враги</a:t>
            </a:r>
            <a:br>
              <a:rPr dirty="0">
                <a:solidFill>
                  <a:schemeClr val="tx1"/>
                </a:solidFill>
              </a:rPr>
            </a:br>
            <a:r>
              <a:rPr dirty="0" err="1">
                <a:solidFill>
                  <a:schemeClr val="tx1"/>
                </a:solidFill>
              </a:rPr>
              <a:t>замедляются</a:t>
            </a:r>
            <a:endParaRPr lang="ru-RU">
              <a:solidFill>
                <a:schemeClr val="tx1"/>
              </a:solidFill>
              <a:cs typeface="Times New Roman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75320" y="3840480"/>
            <a:ext cx="1920240" cy="914400"/>
          </a:xfrm>
          <a:prstGeom prst="roundRect">
            <a:avLst/>
          </a:prstGeom>
          <a:solidFill>
            <a:srgbClr val="EBF1DE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 b="1">
                <a:latin typeface="Times New Roman"/>
              </a:defRPr>
            </a:pPr>
            <a:r>
              <a:rPr dirty="0" err="1">
                <a:solidFill>
                  <a:schemeClr val="tx1"/>
                </a:solidFill>
              </a:rPr>
              <a:t>Игрок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получает</a:t>
            </a:r>
            <a:br>
              <a:rPr dirty="0">
                <a:solidFill>
                  <a:schemeClr val="tx1"/>
                </a:solidFill>
              </a:rPr>
            </a:br>
            <a:r>
              <a:rPr dirty="0" err="1">
                <a:solidFill>
                  <a:schemeClr val="tx1"/>
                </a:solidFill>
              </a:rPr>
              <a:t>ресурсы</a:t>
            </a:r>
            <a:endParaRPr lang="ru-RU" dirty="0" err="1">
              <a:solidFill>
                <a:schemeClr val="tx1"/>
              </a:solidFill>
              <a:cs typeface="Times New Roman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6446520" y="0"/>
            <a:ext cx="457200" cy="0"/>
          </a:xfrm>
          <a:prstGeom prst="line">
            <a:avLst/>
          </a:prstGeom>
          <a:ln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732520" y="0"/>
            <a:ext cx="457200" cy="0"/>
          </a:xfrm>
          <a:prstGeom prst="line">
            <a:avLst/>
          </a:prstGeom>
          <a:ln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0" y="2834640"/>
            <a:ext cx="0" cy="1005840"/>
          </a:xfrm>
          <a:prstGeom prst="line">
            <a:avLst/>
          </a:prstGeom>
          <a:ln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0" y="2834640"/>
            <a:ext cx="0" cy="1005840"/>
          </a:xfrm>
          <a:prstGeom prst="line">
            <a:avLst/>
          </a:prstGeom>
          <a:ln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Times New Roman"/>
              </a:rPr>
              <a:t>Архитектура проекта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49808"/>
            <a:ext cx="10927080" cy="27432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8978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Схема ключевых компонентов приложения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</a:rPr>
              <a:t>Модульная структура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481328"/>
            <a:ext cx="53492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game_engine.py — ядро приложения, игровой цикл, состояния, обработка событий.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object.py — игровые объекты: башни, мобы, снаряды, столкновения.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menu.py / menus.py — пользовательский интерфейс и навигация между экранами.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image_loader.py — загрузка и кэширование спрайтов.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map_saves / JSON — сохранение и загрузка карт.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39776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</a:rPr>
              <a:t>Используемые технологии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4315968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Python 3, Pygame, JSON.</a:t>
            </a:r>
          </a:p>
          <a:p>
            <a:pPr algn="l">
              <a:spcAft>
                <a:spcPts val="5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Git и GitHub для командной работы.</a:t>
            </a:r>
          </a:p>
          <a:p>
            <a:pPr algn="l">
              <a:spcAft>
                <a:spcPts val="5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VS Code как среда разработки.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Times New Roman"/>
              </a:rPr>
              <a:t>Ключевые технические решения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49808"/>
            <a:ext cx="10927080" cy="27432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78543" y="1097280"/>
            <a:ext cx="3657600" cy="2444931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3657600" cy="411480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 b="1">
                <a:latin typeface="Times New Roman"/>
              </a:defRPr>
            </a:pPr>
            <a:r>
              <a:rPr>
                <a:solidFill>
                  <a:schemeClr val="tx1"/>
                </a:solidFill>
              </a:rPr>
              <a:t>Игровой </a:t>
            </a:r>
            <a:r>
              <a:rPr err="1">
                <a:solidFill>
                  <a:schemeClr val="tx1"/>
                </a:solidFill>
              </a:rPr>
              <a:t>цикл</a:t>
            </a:r>
            <a:r>
              <a:rPr>
                <a:solidFill>
                  <a:schemeClr val="tx1"/>
                </a:solidFill>
              </a:rPr>
              <a:t> и </a:t>
            </a:r>
            <a:r>
              <a:rPr err="1">
                <a:solidFill>
                  <a:schemeClr val="tx1"/>
                </a:solidFill>
              </a:rPr>
              <a:t>состояния</a:t>
            </a:r>
            <a:endParaRPr lang="ru-RU" err="1">
              <a:solidFill>
                <a:schemeClr val="tx1"/>
              </a:solidFill>
              <a:cs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5528" y="1554480"/>
            <a:ext cx="3438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Главный цикл ограничен 60 FPS.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Обновление экрана и процессов выполняется через единый engine.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Состояния и экраны переключаются через систему активных процессов.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543" y="3703320"/>
            <a:ext cx="365760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3659777"/>
            <a:ext cx="3657600" cy="411480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 b="1">
                <a:latin typeface="Times New Roman"/>
              </a:defRPr>
            </a:pPr>
            <a:r>
              <a:rPr dirty="0" err="1">
                <a:solidFill>
                  <a:schemeClr val="tx1"/>
                </a:solidFill>
              </a:rPr>
              <a:t>Графика</a:t>
            </a:r>
            <a:r>
              <a:rPr dirty="0">
                <a:solidFill>
                  <a:schemeClr val="tx1"/>
                </a:solidFill>
              </a:rPr>
              <a:t> и UI</a:t>
            </a:r>
            <a:endParaRPr lang="ru-RU" dirty="0">
              <a:solidFill>
                <a:schemeClr val="tx1"/>
              </a:solidFill>
              <a:cs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8271" y="4073434"/>
            <a:ext cx="3438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Кастомные меню на относительных координатах.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Адаптация интерфейса при изменении размера окна.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Поддержка вложенных меню и прокрутки длинных списков.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097280"/>
            <a:ext cx="3246120" cy="2444931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1097280"/>
            <a:ext cx="3246120" cy="411480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 b="1">
                <a:latin typeface="Times New Roman"/>
              </a:defRPr>
            </a:pPr>
            <a:r>
              <a:rPr dirty="0" err="1">
                <a:solidFill>
                  <a:schemeClr val="tx1"/>
                </a:solidFill>
              </a:rPr>
              <a:t>Оптимизация</a:t>
            </a:r>
            <a:endParaRPr lang="ru-RU">
              <a:solidFill>
                <a:schemeClr val="tx1"/>
              </a:solidFill>
              <a:cs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36008" y="1554480"/>
            <a:ext cx="30266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Кэширование изображений и повторное использование ресурсов.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Снижение лишних пересчетов геометрии.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Подготовка к расширению без дублирования кода.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3688805"/>
            <a:ext cx="3246120" cy="1973217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26280" y="3659777"/>
            <a:ext cx="3246120" cy="411480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 b="1">
                <a:latin typeface="Times New Roman"/>
              </a:defRPr>
            </a:pPr>
            <a:r>
              <a:rPr dirty="0" err="1">
                <a:solidFill>
                  <a:schemeClr val="tx1"/>
                </a:solidFill>
              </a:rPr>
              <a:t>Редактор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карт</a:t>
            </a:r>
            <a:endParaRPr lang="ru-RU" dirty="0">
              <a:solidFill>
                <a:schemeClr val="tx1"/>
              </a:solidFill>
              <a:cs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36008" y="4073434"/>
            <a:ext cx="30266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Встроенный Map Maker.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Хранение карт в JSON.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Натуральная сортировка имен файлов сохранений.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097280"/>
            <a:ext cx="2743200" cy="4114800"/>
          </a:xfrm>
          <a:prstGeom prst="roundRect">
            <a:avLst/>
          </a:prstGeom>
          <a:solidFill>
            <a:srgbClr val="EBF1DE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55279" y="1097280"/>
            <a:ext cx="2743200" cy="411480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 b="1">
                <a:latin typeface="Times New Roman"/>
              </a:defRPr>
            </a:pPr>
            <a:r>
              <a:rPr dirty="0" err="1">
                <a:solidFill>
                  <a:schemeClr val="tx1"/>
                </a:solidFill>
              </a:rPr>
              <a:t>Интересные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решения</a:t>
            </a:r>
            <a:endParaRPr lang="ru-RU" dirty="0" err="1">
              <a:solidFill>
                <a:schemeClr val="tx1"/>
              </a:solidFill>
              <a:cs typeface="Times New Roman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65007" y="1554480"/>
            <a:ext cx="2523744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Разные типы башен: обычная, огненная, ледяная, стена.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Поиск пути врагов с помощью A*.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Игровая экономика: стартовый капитал и награда за врагов.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Times New Roman"/>
              </a:rPr>
              <a:t>Разделение работы в команде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49808"/>
            <a:ext cx="10927080" cy="27432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3611880" cy="2057400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143000"/>
            <a:ext cx="3611880" cy="411480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 b="1">
                <a:latin typeface="Times New Roman"/>
              </a:defRPr>
            </a:pPr>
            <a:r>
              <a:rPr>
                <a:solidFill>
                  <a:schemeClr val="tx1"/>
                </a:solidFill>
              </a:rPr>
              <a:t>Анохов Михаил</a:t>
            </a:r>
            <a:endParaRPr lang="ru-RU">
              <a:solidFill>
                <a:schemeClr val="tx1"/>
              </a:solidFill>
              <a:cs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5528" y="1600200"/>
            <a:ext cx="3392424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lang="en-US" dirty="0">
                <a:ea typeface="+mn-lt"/>
                <a:cs typeface="+mn-lt"/>
              </a:rPr>
              <a:t>Архитектура </a:t>
            </a:r>
            <a:r>
              <a:rPr lang="en-US" dirty="0" err="1">
                <a:ea typeface="+mn-lt"/>
                <a:cs typeface="+mn-lt"/>
              </a:rPr>
              <a:t>игрового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поля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координатная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сетка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алгоритмы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поиска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пути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врагов</a:t>
            </a:r>
            <a:r>
              <a:rPr lang="en-US" dirty="0">
                <a:ea typeface="+mn-lt"/>
                <a:cs typeface="+mn-lt"/>
              </a:rPr>
              <a:t> (A*), </a:t>
            </a:r>
            <a:r>
              <a:rPr lang="en-US" dirty="0" err="1">
                <a:ea typeface="+mn-lt"/>
                <a:cs typeface="+mn-lt"/>
              </a:rPr>
              <a:t>логика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волн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коллизии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объектов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интеграция</a:t>
            </a:r>
            <a:r>
              <a:rPr lang="en-US" dirty="0">
                <a:ea typeface="+mn-lt"/>
                <a:cs typeface="+mn-lt"/>
              </a:rPr>
              <a:t> Map Maker, </a:t>
            </a:r>
            <a:r>
              <a:rPr lang="en-US" dirty="0" err="1">
                <a:ea typeface="+mn-lt"/>
                <a:cs typeface="+mn-lt"/>
              </a:rPr>
              <a:t>игровой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экран</a:t>
            </a:r>
            <a:r>
              <a:rPr lang="en-US" dirty="0">
                <a:ea typeface="+mn-lt"/>
                <a:cs typeface="+mn-lt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6772" y="3474720"/>
            <a:ext cx="3640908" cy="2529840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9515" y="3474720"/>
            <a:ext cx="3640908" cy="440508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 b="1">
                <a:latin typeface="Times New Roman"/>
              </a:defRPr>
            </a:pPr>
            <a:r>
              <a:rPr dirty="0" err="1">
                <a:solidFill>
                  <a:schemeClr val="tx1"/>
                </a:solidFill>
              </a:rPr>
              <a:t>Шабуня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Михаил</a:t>
            </a:r>
            <a:endParaRPr lang="ru-RU" dirty="0">
              <a:solidFill>
                <a:schemeClr val="tx1"/>
              </a:solidFill>
              <a:cs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5528" y="3931920"/>
            <a:ext cx="339242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lang="en-US" dirty="0" err="1">
                <a:ea typeface="+mn-lt"/>
                <a:cs typeface="+mn-lt"/>
              </a:rPr>
              <a:t>Проектирование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классов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башен</a:t>
            </a:r>
            <a:r>
              <a:rPr lang="en-US" dirty="0">
                <a:ea typeface="+mn-lt"/>
                <a:cs typeface="+mn-lt"/>
              </a:rPr>
              <a:t> и </a:t>
            </a:r>
            <a:r>
              <a:rPr lang="en-US" dirty="0" err="1">
                <a:ea typeface="+mn-lt"/>
                <a:cs typeface="+mn-lt"/>
              </a:rPr>
              <a:t>снарядов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стихийные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эффекты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архитектура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меню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базовые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подменю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скроллируемые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списки</a:t>
            </a:r>
            <a:r>
              <a:rPr lang="en-US" dirty="0">
                <a:ea typeface="+mn-lt"/>
                <a:cs typeface="+mn-lt"/>
              </a:rPr>
              <a:t>), </a:t>
            </a:r>
            <a:r>
              <a:rPr lang="en-US" dirty="0" err="1">
                <a:ea typeface="+mn-lt"/>
                <a:cs typeface="+mn-lt"/>
              </a:rPr>
              <a:t>игровая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экономика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интеграция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загрузки</a:t>
            </a:r>
            <a:r>
              <a:rPr lang="en-US" dirty="0">
                <a:ea typeface="+mn-lt"/>
                <a:cs typeface="+mn-lt"/>
              </a:rPr>
              <a:t> и </a:t>
            </a:r>
            <a:r>
              <a:rPr lang="en-US" dirty="0" err="1">
                <a:ea typeface="+mn-lt"/>
                <a:cs typeface="+mn-lt"/>
              </a:rPr>
              <a:t>структуры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игровых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экранов</a:t>
            </a:r>
            <a:r>
              <a:rPr lang="en-US" dirty="0">
                <a:ea typeface="+mn-lt"/>
                <a:cs typeface="+mn-lt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143000"/>
            <a:ext cx="6126480" cy="4251960"/>
          </a:xfrm>
          <a:prstGeom prst="roundRect">
            <a:avLst/>
          </a:prstGeom>
          <a:solidFill>
            <a:srgbClr val="EBF1DE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17720" y="1143000"/>
            <a:ext cx="6126480" cy="411480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 b="1">
                <a:latin typeface="Times New Roman"/>
              </a:defRPr>
            </a:pPr>
            <a:r>
              <a:rPr dirty="0">
                <a:solidFill>
                  <a:schemeClr val="tx1"/>
                </a:solidFill>
              </a:rPr>
              <a:t>Как </a:t>
            </a:r>
            <a:r>
              <a:rPr dirty="0" err="1">
                <a:solidFill>
                  <a:schemeClr val="tx1"/>
                </a:solidFill>
              </a:rPr>
              <a:t>была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организована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совместная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работа</a:t>
            </a:r>
            <a:endParaRPr lang="ru-RU" dirty="0">
              <a:solidFill>
                <a:schemeClr val="tx1"/>
              </a:solidFill>
              <a:cs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27448" y="1600200"/>
            <a:ext cx="590702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Git и GitHub: хранение истории изменений, работа через ветки и синхронизацию репозитория.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Планирование: обсуждение задач и распределение подзадач внутри команды.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Коммуникация: устные обсуждения, быстрые согласования решений, совместная проверка результата.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Подход к качеству: ручное тестирование, просмотр кода и доработка структуры проекта.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Times New Roman"/>
              </a:rPr>
              <a:t>Демонстрация прототипа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49808"/>
            <a:ext cx="10927080" cy="27432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6e60f80-25e3-5a24-8b0c-252dbe7488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56553"/>
            <a:ext cx="3840480" cy="39906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623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Главное меню прототипа</a:t>
            </a:r>
          </a:p>
        </p:txBody>
      </p:sp>
      <p:pic>
        <p:nvPicPr>
          <p:cNvPr id="6" name="Picture 5" descr="4802e8ad-8141-576b-96e8-676714c3be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931626"/>
            <a:ext cx="2926080" cy="30404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0" y="5623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Выбор карты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280160"/>
            <a:ext cx="3154680" cy="4480560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818120" y="1251131"/>
            <a:ext cx="3154680" cy="404223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 b="1">
                <a:latin typeface="Times New Roman"/>
              </a:defRPr>
            </a:pPr>
            <a:r>
              <a:rPr dirty="0" err="1">
                <a:solidFill>
                  <a:schemeClr val="tx1"/>
                </a:solidFill>
              </a:rPr>
              <a:t>Что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показывать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на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защите</a:t>
            </a:r>
            <a:endParaRPr lang="ru-RU" dirty="0" err="1">
              <a:solidFill>
                <a:schemeClr val="tx1"/>
              </a:solidFill>
              <a:cs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27848" y="1737360"/>
            <a:ext cx="2935224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1. Запуск игры и главное меню.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2. Переход к выбору карты и/или редактору.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3. Демонстрация основной механики: выбор, размещение, работа объектов.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4. Краткое объяснение, какие модули отвечают за происходящее на экране.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Times New Roman"/>
              </a:rPr>
              <a:t>Результаты, ограничения и планы развития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49808"/>
            <a:ext cx="10927080" cy="27432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097280"/>
            <a:ext cx="3611880" cy="4480560"/>
          </a:xfrm>
          <a:prstGeom prst="roundRect">
            <a:avLst/>
          </a:prstGeom>
          <a:solidFill>
            <a:srgbClr val="EBF1DE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097280"/>
            <a:ext cx="3611880" cy="411480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 b="1">
                <a:latin typeface="Times New Roman"/>
              </a:defRPr>
            </a:pPr>
            <a:r>
              <a:rPr>
                <a:solidFill>
                  <a:schemeClr val="tx1"/>
                </a:solidFill>
              </a:rPr>
              <a:t>Что удалось</a:t>
            </a:r>
            <a:endParaRPr lang="ru-RU">
              <a:solidFill>
                <a:schemeClr val="tx1"/>
              </a:solidFill>
              <a:cs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4088" y="1554480"/>
            <a:ext cx="3392424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Собрать рабочий прототип игры на Python и Pygame.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Реализовать ключевые механики: меню, башни, карта, редактор, сохранения.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Сделать архитектуру более модульной и удобной для расширения.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Закрепить навыки Git, проектирования классов и работы с UI.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611880" cy="4480560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97680" y="1097280"/>
            <a:ext cx="3611880" cy="411480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 b="1">
                <a:latin typeface="Times New Roman"/>
              </a:defRPr>
            </a:pPr>
            <a:r>
              <a:rPr dirty="0" err="1">
                <a:solidFill>
                  <a:schemeClr val="tx1"/>
                </a:solidFill>
              </a:rPr>
              <a:t>Проблемы</a:t>
            </a:r>
            <a:r>
              <a:rPr dirty="0">
                <a:solidFill>
                  <a:schemeClr val="tx1"/>
                </a:solidFill>
              </a:rPr>
              <a:t> и </a:t>
            </a:r>
            <a:r>
              <a:rPr dirty="0" err="1">
                <a:solidFill>
                  <a:schemeClr val="tx1"/>
                </a:solidFill>
              </a:rPr>
              <a:t>ограничения</a:t>
            </a:r>
            <a:endParaRPr lang="ru-RU" dirty="0">
              <a:solidFill>
                <a:schemeClr val="tx1"/>
              </a:solidFill>
              <a:cs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07408" y="1554480"/>
            <a:ext cx="3392424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Проект еще не завершен как полноценная игра.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Ограничены время практики и объем реализованных механик.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Требуют доработки баланс, контент, удобство интерфейса и тесты.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Не все задуманные модули доведены до финального состояния.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097280"/>
            <a:ext cx="3611880" cy="4480560"/>
          </a:xfrm>
          <a:prstGeom prst="roundRect">
            <a:avLst/>
          </a:prstGeom>
          <a:solidFill>
            <a:srgbClr val="DCE6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01000" y="1097280"/>
            <a:ext cx="3611880" cy="411480"/>
          </a:xfrm>
          <a:prstGeom prst="rect">
            <a:avLst/>
          </a:prstGeom>
          <a:solidFill>
            <a:srgbClr val="EBF1DE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 b="1">
                <a:latin typeface="Times New Roman"/>
              </a:defRPr>
            </a:pPr>
            <a:r>
              <a:rPr dirty="0" err="1">
                <a:solidFill>
                  <a:schemeClr val="tx1"/>
                </a:solidFill>
              </a:rPr>
              <a:t>Планы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развития</a:t>
            </a:r>
            <a:endParaRPr lang="ru-RU" dirty="0" err="1">
              <a:solidFill>
                <a:schemeClr val="tx1"/>
              </a:solidFill>
              <a:cs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10728" y="1554480"/>
            <a:ext cx="3392424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Добавить новые карты, типы башен, врагов и игровые режимы.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Улучшить UX и визуальное оформление.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Расширить систему сохранений и сделать проект стабильнее.</a:t>
            </a:r>
          </a:p>
          <a:p>
            <a:pPr algn="l">
              <a:spcAft>
                <a:spcPts val="5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При желании превратить учебный прототип в более серьезный продукт.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Times New Roman"/>
              </a:rPr>
              <a:t>Заключение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49808"/>
            <a:ext cx="10927080" cy="27432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Times New Roman"/>
              </a:rPr>
              <a:t>Краткое резюме проекта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011680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Мы разработали учебный проект в жанре tower defence с базовыми механиками обороны и редактором карт.</a:t>
            </a:r>
          </a:p>
          <a:p>
            <a:pPr algn="l">
              <a:spcAft>
                <a:spcPts val="5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Реализовали архитектуру на Python и Pygame с модульным разделением логики, интерфейса и ресурсов.</a:t>
            </a:r>
          </a:p>
          <a:p>
            <a:pPr algn="l">
              <a:spcAft>
                <a:spcPts val="5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Освоили командную работу с Git и GitHub, а также практику проектирования игрового приложения.</a:t>
            </a:r>
          </a:p>
          <a:p>
            <a:pPr algn="l">
              <a:spcAft>
                <a:spcPts val="5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Полученный результат можно использовать как основу для дальнейшего развития и усложнения игры.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0200" y="5257800"/>
            <a:ext cx="8961120" cy="685800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2000" b="1">
                <a:latin typeface="Times New Roman"/>
              </a:defRPr>
            </a:pPr>
            <a:r>
              <a:rPr>
                <a:solidFill>
                  <a:schemeClr val="tx1"/>
                </a:solidFill>
              </a:rPr>
              <a:t>Учебный проект показал, как знания Python, Pygame и Git объединяются в реальной разработке.</a:t>
            </a:r>
            <a:endParaRPr lang="ru-RU">
              <a:solidFill>
                <a:schemeClr val="tx1"/>
              </a:solidFill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920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0000"/>
                </a:solidFill>
                <a:latin typeface="Times New Roman"/>
              </a:rP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292608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0000"/>
                </a:solidFill>
                <a:latin typeface="Times New Roman"/>
              </a:rPr>
              <a:t>Проект «Tower Defence: Стихийная Оборона»
Команда: Анохов Михаил, Шабуня Михаил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6634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Готовы ответить на вопросы о механиках, архитектуре и ходе разработки.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Широкоэкранный</PresentationFormat>
  <Paragraphs>0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62</cp:revision>
  <dcterms:created xsi:type="dcterms:W3CDTF">2013-01-27T09:14:16Z</dcterms:created>
  <dcterms:modified xsi:type="dcterms:W3CDTF">2026-07-11T21:19:54Z</dcterms:modified>
  <cp:category/>
</cp:coreProperties>
</file>