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14A18-4025-4A85-8B0B-EBC470F56CA8}" v="102" dt="2026-07-12T17:25:13.247"/>
    <p1510:client id="{B0CC9D55-7F12-4BA8-A076-A5ADF1C91557}" v="57" dt="2026-07-12T17:07:20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92C5C24-DA3A-4DE5-B4D4-833FFDEAF16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9D1D0E-DDC8-41CD-9252-17848603927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660467D-673C-464D-AA41-4A769335BFC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1AD1AE-1A76-481F-86E9-1B43FA67DA7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93BFE89A-7652-4DBB-8350-39C058E2AD8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C04F57FD-F3D8-4E57-9123-BA9A5F60D35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86980DF2-A8BA-48B3-821F-D443BFE983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F2E1E46A-2A9B-4D77-A4F1-0ADEF095E52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37DE503-6222-42C4-96ED-6D7BB126CD9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1B93044C-57EC-4EE5-964A-039A2C8AA4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7499F163-0149-4D4C-9318-7912EA4C7A6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9AAB27-5059-4571-A81F-A2CCE08A2D7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B31EA0-5432-4E79-8B4C-A34E6E4C093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A9DE5-681B-4141-9860-BD7E02D9880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81C631-8B41-4473-AB2A-0FB32D3F46C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B5E0C8-97A6-4CC7-BBC3-EC978598C19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374E95-DCCA-4F8C-B974-B4D5B7367F0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410F0-7772-4E8A-907E-BDD96CC846A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37D5A0-5310-46B2-A7CE-823952118A2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9D76F1-3D29-4D35-969A-43866F20E33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1E4DFE-661D-42AB-9B10-5C4E436A98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20E515-DE38-443C-A22C-6CC7FF0DB5D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31520" y="45720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МИНИСТЕРСТВО ОБРАЗОВАНИЯ РЕСПУБЛИКИ БЕЛАРУСЬ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77724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БЕЛОРУССКИЙ ГОСУДАРСТВЕННЫЙ УНИВЕРСИТЕТ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109728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ФАКУЛЬТЕТ ПРИКЛАДНОЙ МАТЕМАТИКИ И ИНФОРМАТИКИ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5840" y="1828800"/>
            <a:ext cx="101494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ОТЧЕТ О ПРОХОЖДЕНИИ УЧЕБНОЙ ПРАКТИКИ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2377440"/>
            <a:ext cx="10332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Проект</a:t>
            </a: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 «Tower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Defence</a:t>
            </a: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Стихийная</a:t>
            </a: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Times New Roman"/>
              </a:rPr>
              <a:t>Оборона</a:t>
            </a: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»</a:t>
            </a:r>
            <a:r>
              <a:rPr lang="en-US" sz="2200" b="1" spc="-1" dirty="0">
                <a:solidFill>
                  <a:srgbClr val="000000"/>
                </a:solidFill>
                <a:latin typeface="Times New Roman"/>
              </a:rPr>
              <a:t> </a:t>
            </a:r>
            <a:endParaRPr lang="en-US" sz="2200" spc="-1" dirty="0" err="1">
              <a:solidFill>
                <a:srgbClr val="000000"/>
              </a:solidFill>
              <a:latin typeface="Arial"/>
              <a:cs typeface="Arial"/>
            </a:endParaRPr>
          </a:p>
          <a:p>
            <a:pPr algn="ctr"/>
            <a:r>
              <a:rPr lang="en-US" sz="2200" b="1" strike="noStrike" spc="-1" err="1">
                <a:solidFill>
                  <a:srgbClr val="000000"/>
                </a:solidFill>
                <a:latin typeface="Times New Roman"/>
              </a:rPr>
              <a:t>репозиторий</a:t>
            </a:r>
            <a:r>
              <a:rPr lang="en-US" sz="22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1" strike="noStrike" spc="-1" err="1">
                <a:solidFill>
                  <a:srgbClr val="000000"/>
                </a:solidFill>
                <a:latin typeface="Times New Roman"/>
              </a:rPr>
              <a:t>monkey_game</a:t>
            </a:r>
            <a:endParaRPr lang="en-US" sz="22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309360" y="3657600"/>
            <a:ext cx="46630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Команда проекта: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Анохов Михаил Дмитриевич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Шабуня Михаил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1 курс, </a:t>
            </a:r>
            <a:r>
              <a:rPr lang="ru-RU" sz="1800" b="0" strike="noStrike" spc="-1">
                <a:solidFill>
                  <a:srgbClr val="000000"/>
                </a:solidFill>
                <a:latin typeface="Times New Roman"/>
              </a:rPr>
              <a:t>3 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группа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Руководитель практики: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Times New Roman"/>
              </a:rPr>
              <a:t>Старший преподаватель И.В.Комаровский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40080" y="61264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Минск, 2026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113000" y="274320"/>
            <a:ext cx="39348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Цель и контекст проекта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640080" y="1051560"/>
            <a:ext cx="5440320" cy="53031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868680" y="1188720"/>
            <a:ext cx="4983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Цель работы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868680" y="1536120"/>
            <a:ext cx="4891680" cy="11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Разработать учебный прототип 2D tower defence на Python и Pygame.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Закрепить навыки командной разработки и оформить результат в виде полноценного проекта.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868680" y="2880360"/>
            <a:ext cx="4983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Что хотели освоить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868680" y="3218760"/>
            <a:ext cx="4891680" cy="23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Python 3 и объектно-ориентированное проектирование.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Pygame: игровой цикл, обработка ввода, меню, рендеринг.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Git и GitHub: история изменений, ветки, совместная работа.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Основы игрового процесса, архитектуры проекта и редактора карт.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8"/>
          <p:cNvSpPr/>
          <p:nvPr/>
        </p:nvSpPr>
        <p:spPr>
          <a:xfrm>
            <a:off x="6263640" y="1051560"/>
            <a:ext cx="5257440" cy="5303160"/>
          </a:xfrm>
          <a:prstGeom prst="roundRect">
            <a:avLst>
              <a:gd name="adj" fmla="val 16667"/>
            </a:avLst>
          </a:prstGeom>
          <a:solidFill>
            <a:srgbClr val="EBF1DE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6492240" y="1188720"/>
            <a:ext cx="48002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Контекст проекта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6492240" y="1536120"/>
            <a:ext cx="4571640" cy="177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Репозиторий: github.com/DiGr0d/monkey_game, основная ветка — master.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Проект выполнен как учебная практика после 1 курса.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По README проект разработан командой из двух человек.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6492240" y="3154680"/>
            <a:ext cx="48002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Целевой пользователь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6492240" y="3493080"/>
            <a:ext cx="4571640" cy="15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Студенты и начинающие разработчики игр.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Пользователи, которым интересны простые стратегические 2D-игры.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Игроки, которые хотят создавать и загружать собственные карты.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724280" y="274320"/>
            <a:ext cx="27126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Концепция игры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ounded Rectangle 3"/>
          <p:cNvSpPr/>
          <p:nvPr/>
        </p:nvSpPr>
        <p:spPr>
          <a:xfrm>
            <a:off x="649440" y="1097280"/>
            <a:ext cx="3426480" cy="1845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656640" y="988560"/>
            <a:ext cx="341208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Жанр и формат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780840" y="1402200"/>
            <a:ext cx="3163320" cy="16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Жанр — tower defence / тактическая стратегия в реальном времени.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Формат — 2D-игра с управлением мышью и встроенным редактором карт.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6"/>
          <p:cNvSpPr/>
          <p:nvPr/>
        </p:nvSpPr>
        <p:spPr>
          <a:xfrm>
            <a:off x="685800" y="3024000"/>
            <a:ext cx="3382920" cy="2011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685800" y="3024000"/>
            <a:ext cx="33829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Сеттинг и атмосфера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795600" y="3365280"/>
            <a:ext cx="3163320" cy="16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Мир «Стихийной Обороны»: игрок строит защиту против волн противников.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Ключевой акцент — комбинирование башен и контроль пространства на карте.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9"/>
          <p:cNvSpPr/>
          <p:nvPr/>
        </p:nvSpPr>
        <p:spPr>
          <a:xfrm>
            <a:off x="685800" y="5240520"/>
            <a:ext cx="3382920" cy="13255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685800" y="5138640"/>
            <a:ext cx="33829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Ключевая механика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795600" y="5552280"/>
            <a:ext cx="316332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Выбор позиции, установка башен, усиление линии обороны и наблюдение за результатом.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2"/>
          <p:cNvSpPr/>
          <p:nvPr/>
        </p:nvSpPr>
        <p:spPr>
          <a:xfrm>
            <a:off x="4434840" y="1097280"/>
            <a:ext cx="6537600" cy="5120280"/>
          </a:xfrm>
          <a:prstGeom prst="rect">
            <a:avLst/>
          </a:prstGeom>
          <a:solidFill>
            <a:srgbClr val="FFFFFF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4526280" y="5385309"/>
            <a:ext cx="6400440" cy="57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Игровой экран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Рисунок 1" descr="Изображение выглядит как снимок экрана, текст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B5F615-514F-31E0-6EDE-FF7F00E6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21" y="1314450"/>
            <a:ext cx="5622471" cy="3822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097600" y="274320"/>
            <a:ext cx="19656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Геймдизайн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ounded Rectangle 3"/>
          <p:cNvSpPr/>
          <p:nvPr/>
        </p:nvSpPr>
        <p:spPr>
          <a:xfrm>
            <a:off x="678543" y="923115"/>
            <a:ext cx="3710217" cy="20142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671286" y="923269"/>
            <a:ext cx="370296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Основные правила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795600" y="1235160"/>
            <a:ext cx="3483360" cy="167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Игрок удерживает позиции и строит оборону на карте.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За уничтожение врагов начисляются ресурсы на новые башни.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Поражение наступает, если уничтожены все башни игрока.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678657" y="3122640"/>
            <a:ext cx="3724863" cy="196543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7"/>
          <p:cNvSpPr/>
          <p:nvPr/>
        </p:nvSpPr>
        <p:spPr>
          <a:xfrm>
            <a:off x="664200" y="3035520"/>
            <a:ext cx="3732120" cy="4183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Прогрессия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795600" y="3463920"/>
            <a:ext cx="3483360" cy="16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Усложнение происходит за счет волн противников, выбора карт и расширения набора башен.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В проекте заложена возможность добавлять новые типы объектов и сценарии.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9"/>
          <p:cNvSpPr/>
          <p:nvPr/>
        </p:nvSpPr>
        <p:spPr>
          <a:xfrm>
            <a:off x="678543" y="5310000"/>
            <a:ext cx="3710217" cy="1328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10"/>
          <p:cNvSpPr/>
          <p:nvPr/>
        </p:nvSpPr>
        <p:spPr>
          <a:xfrm>
            <a:off x="678543" y="5194080"/>
            <a:ext cx="3717474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Короткая игровая ситуация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795600" y="5600160"/>
            <a:ext cx="348336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Игрок выбирает клетку, ставит башню, враги меняют путь, защита сдерживает волну.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4846320" y="1051560"/>
            <a:ext cx="59432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Схема: игрок → действие → результат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Connector 18"/>
          <p:cNvCxnSpPr/>
          <p:nvPr/>
        </p:nvCxnSpPr>
        <p:spPr>
          <a:xfrm>
            <a:off x="6446520" y="0"/>
            <a:ext cx="457560" cy="360"/>
          </a:xfrm>
          <a:prstGeom prst="straightConnector1">
            <a:avLst/>
          </a:prstGeom>
          <a:ln>
            <a:solidFill>
              <a:srgbClr val="505050"/>
            </a:solidFill>
            <a:round/>
          </a:ln>
        </p:spPr>
      </p:cxnSp>
      <p:cxnSp>
        <p:nvCxnSpPr>
          <p:cNvPr id="118" name="Connector 19"/>
          <p:cNvCxnSpPr/>
          <p:nvPr/>
        </p:nvCxnSpPr>
        <p:spPr>
          <a:xfrm>
            <a:off x="8732520" y="0"/>
            <a:ext cx="457560" cy="360"/>
          </a:xfrm>
          <a:prstGeom prst="straightConnector1">
            <a:avLst/>
          </a:prstGeom>
          <a:ln>
            <a:solidFill>
              <a:srgbClr val="505050"/>
            </a:solidFill>
            <a:round/>
          </a:ln>
        </p:spPr>
      </p:cxnSp>
      <p:cxnSp>
        <p:nvCxnSpPr>
          <p:cNvPr id="119" name="Connector 20"/>
          <p:cNvCxnSpPr/>
          <p:nvPr/>
        </p:nvCxnSpPr>
        <p:spPr>
          <a:xfrm>
            <a:off x="0" y="2834640"/>
            <a:ext cx="360" cy="1006200"/>
          </a:xfrm>
          <a:prstGeom prst="straightConnector1">
            <a:avLst/>
          </a:prstGeom>
          <a:ln>
            <a:solidFill>
              <a:srgbClr val="505050"/>
            </a:solidFill>
            <a:round/>
          </a:ln>
        </p:spPr>
      </p:cxnSp>
      <p:cxnSp>
        <p:nvCxnSpPr>
          <p:cNvPr id="120" name="Connector 21"/>
          <p:cNvCxnSpPr/>
          <p:nvPr/>
        </p:nvCxnSpPr>
        <p:spPr>
          <a:xfrm>
            <a:off x="0" y="2834640"/>
            <a:ext cx="360" cy="1006200"/>
          </a:xfrm>
          <a:prstGeom prst="straightConnector1">
            <a:avLst/>
          </a:prstGeom>
          <a:ln>
            <a:solidFill>
              <a:srgbClr val="505050"/>
            </a:solidFill>
            <a:round/>
          </a:ln>
        </p:spPr>
      </p:cxnSp>
      <p:pic>
        <p:nvPicPr>
          <p:cNvPr id="2" name="Рисунок 1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465F85-5E66-53F2-8C60-6A1038F91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27" y="1440542"/>
            <a:ext cx="8128000" cy="4557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4369320" y="274320"/>
            <a:ext cx="34225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Архитектура проекта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868680" y="5897880"/>
            <a:ext cx="44802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Например, иерархия классов меню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5669280" y="114300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Модульная структура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5669280" y="1481400"/>
            <a:ext cx="5348880" cy="22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game_engine.py — ядро приложения, игровой цикл, состояния, обработка событий.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object.py — игровые объекты: башни, мобы, снаряды, столкновения.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menu.py / menus.py — пользовательский интерфейс и навигация между экранами.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image_loader.py — загрузка и кэширование спрайтов.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map_saves / JSON — сохранение и загрузка карт.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5669280" y="397764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Используемые технологии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5669280" y="4316040"/>
            <a:ext cx="5211720" cy="99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Python 3, Pygame, JSON.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Git и GitHub для командной работы.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VS Code как среда разработки.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Овал 127"/>
          <p:cNvSpPr/>
          <p:nvPr/>
        </p:nvSpPr>
        <p:spPr>
          <a:xfrm>
            <a:off x="1854200" y="1611086"/>
            <a:ext cx="9144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menu</a:t>
            </a:r>
          </a:p>
        </p:txBody>
      </p:sp>
      <p:sp>
        <p:nvSpPr>
          <p:cNvPr id="129" name="Овал 128"/>
          <p:cNvSpPr/>
          <p:nvPr/>
        </p:nvSpPr>
        <p:spPr>
          <a:xfrm>
            <a:off x="482600" y="2296886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Scrollable</a:t>
            </a:r>
          </a:p>
          <a:p>
            <a:pPr algn="ctr"/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menu</a:t>
            </a:r>
          </a:p>
        </p:txBody>
      </p:sp>
      <p:sp>
        <p:nvSpPr>
          <p:cNvPr id="130" name="Овал 129"/>
          <p:cNvSpPr/>
          <p:nvPr/>
        </p:nvSpPr>
        <p:spPr>
          <a:xfrm>
            <a:off x="482600" y="3211286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SubMenu</a:t>
            </a:r>
          </a:p>
        </p:txBody>
      </p:sp>
      <p:sp>
        <p:nvSpPr>
          <p:cNvPr id="131" name="Овал 130"/>
          <p:cNvSpPr/>
          <p:nvPr/>
        </p:nvSpPr>
        <p:spPr>
          <a:xfrm>
            <a:off x="1632857" y="4677229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SettingsMenu</a:t>
            </a:r>
            <a:endParaRPr lang="en-US" sz="14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2" name="Овал 131"/>
          <p:cNvSpPr/>
          <p:nvPr/>
        </p:nvSpPr>
        <p:spPr>
          <a:xfrm>
            <a:off x="319314" y="1135743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MainMenu</a:t>
            </a:r>
          </a:p>
        </p:txBody>
      </p:sp>
      <p:sp>
        <p:nvSpPr>
          <p:cNvPr id="133" name="Овал 132"/>
          <p:cNvSpPr/>
          <p:nvPr/>
        </p:nvSpPr>
        <p:spPr>
          <a:xfrm>
            <a:off x="2318657" y="2750457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Select tower menu</a:t>
            </a:r>
          </a:p>
        </p:txBody>
      </p:sp>
      <p:sp>
        <p:nvSpPr>
          <p:cNvPr id="134" name="Овал 133"/>
          <p:cNvSpPr/>
          <p:nvPr/>
        </p:nvSpPr>
        <p:spPr>
          <a:xfrm>
            <a:off x="4024086" y="2754086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TileMenu</a:t>
            </a:r>
          </a:p>
        </p:txBody>
      </p:sp>
      <p:sp>
        <p:nvSpPr>
          <p:cNvPr id="135" name="Овал 134"/>
          <p:cNvSpPr/>
          <p:nvPr/>
        </p:nvSpPr>
        <p:spPr>
          <a:xfrm>
            <a:off x="4597400" y="1839686"/>
            <a:ext cx="9144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Replace Menu</a:t>
            </a:r>
          </a:p>
        </p:txBody>
      </p:sp>
      <p:sp>
        <p:nvSpPr>
          <p:cNvPr id="136" name="Овал 135"/>
          <p:cNvSpPr/>
          <p:nvPr/>
        </p:nvSpPr>
        <p:spPr>
          <a:xfrm>
            <a:off x="275772" y="4680857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NewGameMapMenu</a:t>
            </a:r>
          </a:p>
        </p:txBody>
      </p:sp>
      <p:sp>
        <p:nvSpPr>
          <p:cNvPr id="137" name="Овал 136"/>
          <p:cNvSpPr/>
          <p:nvPr/>
        </p:nvSpPr>
        <p:spPr>
          <a:xfrm>
            <a:off x="2997200" y="4354286"/>
            <a:ext cx="11430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300" b="0" strike="noStrike" spc="-1">
                <a:solidFill>
                  <a:srgbClr val="000000"/>
                </a:solidFill>
                <a:latin typeface="Arial"/>
              </a:rPr>
              <a:t>MapMakerMenu</a:t>
            </a:r>
          </a:p>
        </p:txBody>
      </p:sp>
      <p:sp>
        <p:nvSpPr>
          <p:cNvPr id="138" name="Прямая соединительная линия 137"/>
          <p:cNvSpPr/>
          <p:nvPr/>
        </p:nvSpPr>
        <p:spPr>
          <a:xfrm flipV="1">
            <a:off x="1168400" y="1839686"/>
            <a:ext cx="685800" cy="4572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Соединитель: уступ 138"/>
          <p:cNvCxnSpPr>
            <a:cxnSpLocks/>
          </p:cNvCxnSpPr>
          <p:nvPr/>
        </p:nvCxnSpPr>
        <p:spPr>
          <a:xfrm rot="5400000">
            <a:off x="1054280" y="3897086"/>
            <a:ext cx="12700" cy="12700"/>
          </a:xfrm>
          <a:prstGeom prst="bentConnector3">
            <a:avLst>
              <a:gd name="adj1" fmla="val 1800000"/>
            </a:avLst>
          </a:prstGeom>
          <a:ln w="0">
            <a:solidFill>
              <a:srgbClr val="3465A4"/>
            </a:solidFill>
          </a:ln>
        </p:spPr>
      </p:cxnSp>
      <p:sp>
        <p:nvSpPr>
          <p:cNvPr id="140" name="Прямая соединительная линия 139"/>
          <p:cNvSpPr/>
          <p:nvPr/>
        </p:nvSpPr>
        <p:spPr>
          <a:xfrm flipV="1">
            <a:off x="939800" y="2982686"/>
            <a:ext cx="0" cy="2286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Прямая соединительная линия 141"/>
          <p:cNvSpPr/>
          <p:nvPr/>
        </p:nvSpPr>
        <p:spPr>
          <a:xfrm flipV="1">
            <a:off x="849085" y="3900714"/>
            <a:ext cx="134257" cy="780143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Прямая соединительная линия 142"/>
          <p:cNvSpPr/>
          <p:nvPr/>
        </p:nvSpPr>
        <p:spPr>
          <a:xfrm flipH="1" flipV="1">
            <a:off x="1487714" y="3766457"/>
            <a:ext cx="537028" cy="910772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Прямая соединительная линия 143"/>
          <p:cNvSpPr/>
          <p:nvPr/>
        </p:nvSpPr>
        <p:spPr>
          <a:xfrm flipH="1" flipV="1">
            <a:off x="1592943" y="3472544"/>
            <a:ext cx="1690914" cy="918028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Прямая соединительная линия 144"/>
          <p:cNvSpPr/>
          <p:nvPr/>
        </p:nvSpPr>
        <p:spPr>
          <a:xfrm flipH="1" flipV="1">
            <a:off x="2525486" y="2075543"/>
            <a:ext cx="326571" cy="6604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Прямая соединительная линия 145"/>
          <p:cNvSpPr/>
          <p:nvPr/>
        </p:nvSpPr>
        <p:spPr>
          <a:xfrm flipH="1" flipV="1">
            <a:off x="2634343" y="1988457"/>
            <a:ext cx="1611086" cy="852714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Прямая соединительная линия 146"/>
          <p:cNvSpPr/>
          <p:nvPr/>
        </p:nvSpPr>
        <p:spPr>
          <a:xfrm flipH="1">
            <a:off x="2656115" y="1937658"/>
            <a:ext cx="2057400" cy="14514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B869A5A-7190-644F-E0BF-1A200B1D1D33}"/>
              </a:ext>
            </a:extLst>
          </p:cNvPr>
          <p:cNvSpPr>
            <a:spLocks/>
          </p:cNvSpPr>
          <p:nvPr/>
        </p:nvSpPr>
        <p:spPr>
          <a:xfrm>
            <a:off x="1444170" y="1509483"/>
            <a:ext cx="602342" cy="145146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3528000" y="274320"/>
            <a:ext cx="510516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Ключевые технические решения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3"/>
          <p:cNvSpPr/>
          <p:nvPr/>
        </p:nvSpPr>
        <p:spPr>
          <a:xfrm>
            <a:off x="678600" y="1097280"/>
            <a:ext cx="3657240" cy="2444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685800" y="1097280"/>
            <a:ext cx="365724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Игровой цикл и состояния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795600" y="1554480"/>
            <a:ext cx="3437640" cy="143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Главный цикл ограничен 60 FPS.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Обновление экрана и процессов выполняется через единый engine.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Состояния и экраны переключаются через систему активных процессов.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ounded Rectangle 6"/>
          <p:cNvSpPr/>
          <p:nvPr/>
        </p:nvSpPr>
        <p:spPr>
          <a:xfrm>
            <a:off x="685857" y="3696063"/>
            <a:ext cx="3657240" cy="221234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685800" y="3659760"/>
            <a:ext cx="365724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Графика и UI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788400" y="4073400"/>
            <a:ext cx="3437640" cy="167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Кастомные меню на относительных координатах.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Адаптация интерфейса при изменении размера окна.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Поддержка вложенных меню и прокрутки длинных списков.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9"/>
          <p:cNvSpPr/>
          <p:nvPr/>
        </p:nvSpPr>
        <p:spPr>
          <a:xfrm>
            <a:off x="4526280" y="1097280"/>
            <a:ext cx="3245760" cy="2444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10"/>
          <p:cNvSpPr/>
          <p:nvPr/>
        </p:nvSpPr>
        <p:spPr>
          <a:xfrm>
            <a:off x="4526280" y="1097280"/>
            <a:ext cx="324576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Оптимизация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4636080" y="1554480"/>
            <a:ext cx="3026160" cy="192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Кэширование изображений и повторное использование ресурсов.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Снижение лишних пересчетов геометрии.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Подготовка к расширению без дублирования кода.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12"/>
          <p:cNvSpPr/>
          <p:nvPr/>
        </p:nvSpPr>
        <p:spPr>
          <a:xfrm>
            <a:off x="4526280" y="3696177"/>
            <a:ext cx="3245760" cy="221228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13"/>
          <p:cNvSpPr/>
          <p:nvPr/>
        </p:nvSpPr>
        <p:spPr>
          <a:xfrm>
            <a:off x="4526280" y="3659760"/>
            <a:ext cx="324576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Редактор карт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4636080" y="4073400"/>
            <a:ext cx="3026160" cy="11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Встроенный Map Maker.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Хранение карт в JSON.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Натуральная сортировка имен файлов сохранений.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15"/>
          <p:cNvSpPr/>
          <p:nvPr/>
        </p:nvSpPr>
        <p:spPr>
          <a:xfrm>
            <a:off x="7955280" y="1097280"/>
            <a:ext cx="2742840" cy="4114440"/>
          </a:xfrm>
          <a:prstGeom prst="roundRect">
            <a:avLst>
              <a:gd name="adj" fmla="val 16667"/>
            </a:avLst>
          </a:prstGeom>
          <a:solidFill>
            <a:srgbClr val="EBF1DE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16"/>
          <p:cNvSpPr/>
          <p:nvPr/>
        </p:nvSpPr>
        <p:spPr>
          <a:xfrm>
            <a:off x="7955280" y="1097280"/>
            <a:ext cx="274284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Интересные решения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8065080" y="1554480"/>
            <a:ext cx="2523240" cy="21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Разные типы башен: обычная, огненная, ледяная, стена.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Поиск пути врагов с помощью A*.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Игровая экономика: стартовый капитал и награда за врагов.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3777840" y="274320"/>
            <a:ext cx="4605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Разделение работы в команде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ounded Rectangle 3"/>
          <p:cNvSpPr/>
          <p:nvPr/>
        </p:nvSpPr>
        <p:spPr>
          <a:xfrm>
            <a:off x="664029" y="1143000"/>
            <a:ext cx="3626034" cy="212961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671286" y="1143000"/>
            <a:ext cx="36115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Анохов Михаил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795600" y="1600200"/>
            <a:ext cx="339192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Архитектура игрового поля, координатная сетка, мобы, алгоритмы поиска пути врагов (A*), логика волн, коллизии объектов, интеграция Map Maker, игровой экран.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6"/>
          <p:cNvSpPr/>
          <p:nvPr/>
        </p:nvSpPr>
        <p:spPr>
          <a:xfrm>
            <a:off x="656640" y="3474720"/>
            <a:ext cx="3640680" cy="25293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649440" y="3474720"/>
            <a:ext cx="3640680" cy="44028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Шабуня Михаил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795600" y="3931920"/>
            <a:ext cx="3391920" cy="17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Проектирование классов башен и снарядов, стихийные эффекты, архитектура меню (базовые, подменю, скроллируемые списки), игровая экономика, интеграция загрузки и структуры игровых экранов.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9"/>
          <p:cNvSpPr/>
          <p:nvPr/>
        </p:nvSpPr>
        <p:spPr>
          <a:xfrm>
            <a:off x="5038634" y="1687286"/>
            <a:ext cx="6126120" cy="3213829"/>
          </a:xfrm>
          <a:prstGeom prst="roundRect">
            <a:avLst>
              <a:gd name="adj" fmla="val 16667"/>
            </a:avLst>
          </a:prstGeom>
          <a:solidFill>
            <a:srgbClr val="EBF1DE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5038634" y="1687286"/>
            <a:ext cx="61261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Как была организована совместная работа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5148434" y="2144486"/>
            <a:ext cx="5906520" cy="22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Git и GitHub: хранение истории изменений, работа через ветки и синхронизацию репозитория.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Планирование: обсуждение задач и распределение подзадач внутри команды.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Коммуникация: устные обсуждения, быстрые согласования решений, совместная проверка результата.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Подход к качеству: ручное тестирование, просмотр кода и доработка структуры проекта.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4078080" y="274320"/>
            <a:ext cx="40046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Демонстрация прототипа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8" name="Picture 3" descr="06e60f80-25e3-5a24-8b0c-252dbe7488be.png"/>
          <p:cNvPicPr/>
          <p:nvPr/>
        </p:nvPicPr>
        <p:blipFill>
          <a:blip r:embed="rId2"/>
          <a:stretch/>
        </p:blipFill>
        <p:spPr>
          <a:xfrm>
            <a:off x="731520" y="1456560"/>
            <a:ext cx="3840120" cy="3990240"/>
          </a:xfrm>
          <a:prstGeom prst="rect">
            <a:avLst/>
          </a:prstGeom>
          <a:ln w="0">
            <a:noFill/>
          </a:ln>
        </p:spPr>
      </p:pic>
      <p:sp>
        <p:nvSpPr>
          <p:cNvPr id="179" name="TextBox 4"/>
          <p:cNvSpPr/>
          <p:nvPr/>
        </p:nvSpPr>
        <p:spPr>
          <a:xfrm>
            <a:off x="822960" y="562356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Главное меню прототипа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Picture 5" descr="4802e8ad-8141-576b-96e8-676714c3be94.png"/>
          <p:cNvPicPr/>
          <p:nvPr/>
        </p:nvPicPr>
        <p:blipFill>
          <a:blip r:embed="rId3"/>
          <a:stretch/>
        </p:blipFill>
        <p:spPr>
          <a:xfrm>
            <a:off x="4663440" y="1931760"/>
            <a:ext cx="2925720" cy="3040200"/>
          </a:xfrm>
          <a:prstGeom prst="rect">
            <a:avLst/>
          </a:prstGeom>
          <a:ln w="0">
            <a:noFill/>
          </a:ln>
        </p:spPr>
      </p:pic>
      <p:sp>
        <p:nvSpPr>
          <p:cNvPr id="181" name="TextBox 6"/>
          <p:cNvSpPr/>
          <p:nvPr/>
        </p:nvSpPr>
        <p:spPr>
          <a:xfrm>
            <a:off x="4754880" y="5623560"/>
            <a:ext cx="27428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Выбор карты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7"/>
          <p:cNvSpPr/>
          <p:nvPr/>
        </p:nvSpPr>
        <p:spPr>
          <a:xfrm>
            <a:off x="7818120" y="1280160"/>
            <a:ext cx="3154320" cy="44802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7818120" y="1251000"/>
            <a:ext cx="3154320" cy="4039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Что показывать на защите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7927920" y="1737360"/>
            <a:ext cx="2934720" cy="247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1. Запуск игры и главное меню.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2. Переход к выбору карты и/или редактору.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3. Демонстрация основной механики: выбор, размещение, работа объектов.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4. Краткое объяснение, какие модули отвечают за происходящее на экране.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2672280" y="274320"/>
            <a:ext cx="68166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Результаты, ограничения и планы развития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ounded Rectangle 3"/>
          <p:cNvSpPr/>
          <p:nvPr/>
        </p:nvSpPr>
        <p:spPr>
          <a:xfrm>
            <a:off x="623388" y="1097280"/>
            <a:ext cx="3582492" cy="4189915"/>
          </a:xfrm>
          <a:prstGeom prst="roundRect">
            <a:avLst>
              <a:gd name="adj" fmla="val 16667"/>
            </a:avLst>
          </a:prstGeom>
          <a:solidFill>
            <a:srgbClr val="EBF1DE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594360" y="1097280"/>
            <a:ext cx="36115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Что удалось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704160" y="1554480"/>
            <a:ext cx="3391920" cy="29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Собрать рабочий прототип игры на Python и Pygame.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Реализовать ключевые механики: меню, башни, карта, редактор, сохранения.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Сделать архитектуру более модульной и удобной для расширения.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Закрепить навыки Git, проектирования классов и работы с UI.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6"/>
          <p:cNvSpPr/>
          <p:nvPr/>
        </p:nvSpPr>
        <p:spPr>
          <a:xfrm>
            <a:off x="4297680" y="1097280"/>
            <a:ext cx="3611520" cy="418991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4297680" y="1097280"/>
            <a:ext cx="3611520" cy="411120"/>
          </a:xfrm>
          <a:prstGeom prst="rect">
            <a:avLst/>
          </a:prstGeom>
          <a:solidFill>
            <a:srgbClr val="DCE6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Проблемы и ограничения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4407480" y="1554480"/>
            <a:ext cx="3391920" cy="22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Проект еще не завершен как полноценная игра.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Ограничены время практики и объем реализованных механик.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Требуют доработки баланс, контент, удобство интерфейса и тесты.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Не все задуманные модули доведены до финального состояния.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9"/>
          <p:cNvSpPr/>
          <p:nvPr/>
        </p:nvSpPr>
        <p:spPr>
          <a:xfrm>
            <a:off x="8001000" y="1097280"/>
            <a:ext cx="3611520" cy="4182658"/>
          </a:xfrm>
          <a:prstGeom prst="roundRect">
            <a:avLst>
              <a:gd name="adj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10"/>
          <p:cNvSpPr/>
          <p:nvPr/>
        </p:nvSpPr>
        <p:spPr>
          <a:xfrm>
            <a:off x="8001000" y="1097280"/>
            <a:ext cx="3611520" cy="411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Times New Roman"/>
              </a:rPr>
              <a:t>Планы развития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1"/>
          <p:cNvSpPr/>
          <p:nvPr/>
        </p:nvSpPr>
        <p:spPr>
          <a:xfrm>
            <a:off x="8110800" y="1554480"/>
            <a:ext cx="3391920" cy="22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Добавить новые карты, типы башен, врагов и игровые режимы.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Улучшить UX и визуальное оформление.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Расширить систему сохранений и сделать проект стабильнее.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При желании превратить учебный прототип в более серьезный продукт.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5081760" y="274320"/>
            <a:ext cx="19976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000000"/>
                </a:solidFill>
                <a:latin typeface="Times New Roman"/>
              </a:rPr>
              <a:t>Заключение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640080" y="749880"/>
            <a:ext cx="10926720" cy="27000"/>
          </a:xfrm>
          <a:prstGeom prst="rect">
            <a:avLst/>
          </a:prstGeom>
          <a:solidFill>
            <a:srgbClr val="5050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914400" y="1417320"/>
            <a:ext cx="1033236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Краткое резюме проекта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1051560" y="2011680"/>
            <a:ext cx="9966600" cy="271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Мы разработали учебный проект в жанре tower defence с базовыми механиками обороны и редактором карт.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Реализовали архитектуру на Python и Pygame с модульным разделением логики, интерфейса и ресурсов.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Освоили командную работу с Git и GitHub, а также практику проектирования игрового приложения.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Полученный результат можно использовать как основу для дальнейшего развития и усложнения игры.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1600200" y="5257800"/>
            <a:ext cx="8960760" cy="6854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solidFill>
              <a:srgbClr val="50505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chemeClr val="dk1"/>
                </a:solidFill>
                <a:latin typeface="Times New Roman"/>
              </a:rPr>
              <a:t>Учебный проект показал, как знания Python, Pygame и Git объединяются в реальной разработке.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Box 1"/>
          <p:cNvSpPr/>
          <p:nvPr/>
        </p:nvSpPr>
        <p:spPr>
          <a:xfrm>
            <a:off x="914400" y="1920240"/>
            <a:ext cx="1033236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Times New Roman"/>
              </a:rPr>
              <a:t>СПАСИБО ЗА ВНИМАНИЕ!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1645920" y="2926080"/>
            <a:ext cx="89607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200" b="0" strike="noStrike" spc="-1" err="1">
                <a:solidFill>
                  <a:srgbClr val="000000"/>
                </a:solidFill>
                <a:latin typeface="Times New Roman"/>
              </a:rPr>
              <a:t>Проект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 «Tower </a:t>
            </a:r>
            <a:r>
              <a:rPr lang="en-US" sz="2200" b="0" strike="noStrike" spc="-1" err="1">
                <a:solidFill>
                  <a:srgbClr val="000000"/>
                </a:solidFill>
                <a:latin typeface="Times New Roman"/>
              </a:rPr>
              <a:t>Defence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200" b="0" strike="noStrike" spc="-1" err="1">
                <a:solidFill>
                  <a:srgbClr val="000000"/>
                </a:solidFill>
                <a:latin typeface="Times New Roman"/>
              </a:rPr>
              <a:t>Стихийная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0" strike="noStrike" spc="-1" err="1">
                <a:solidFill>
                  <a:srgbClr val="000000"/>
                </a:solidFill>
                <a:latin typeface="Times New Roman"/>
              </a:rPr>
              <a:t>Оборона</a:t>
            </a: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»</a:t>
            </a:r>
            <a:endParaRPr lang="en-US" sz="2200" b="0" strike="noStrike" spc="-1">
              <a:solidFill>
                <a:srgbClr val="000000"/>
              </a:solidFill>
              <a:latin typeface="Arial"/>
              <a:cs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Команда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: Анохов Михаил,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Шабуня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Михаил</a:t>
            </a:r>
            <a:endParaRPr lang="en-US" sz="2200" b="0" strike="noStrike" spc="-1" dirty="0" err="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Широкоэкранный</PresentationFormat>
  <Paragraphs>0</Paragraphs>
  <Slides>11</Slides>
  <Notes>0</Notes>
  <HiddenSlides>0</HiddenSlides>
  <ScaleCrop>false</ScaleCrop>
  <HeadingPairs>
    <vt:vector size="4" baseType="variant"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11</vt:i4>
      </vt:variant>
    </vt:vector>
  </HeadingPairs>
  <TitlesOfParts>
    <vt:vector size="22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176</cp:revision>
  <dcterms:created xsi:type="dcterms:W3CDTF">2013-01-27T09:14:16Z</dcterms:created>
  <dcterms:modified xsi:type="dcterms:W3CDTF">2026-07-12T17:25:33Z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11</vt:i4>
  </property>
</Properties>
</file>